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Host Grotesk Medium"/>
      <p:regular r:id="rId17"/>
    </p:embeddedFont>
    <p:embeddedFont>
      <p:font typeface="Host Grotesk Medium"/>
      <p:regular r:id="rId18"/>
    </p:embeddedFont>
    <p:embeddedFont>
      <p:font typeface="Host Grotesk Medium"/>
      <p:regular r:id="rId19"/>
    </p:embeddedFont>
    <p:embeddedFont>
      <p:font typeface="Host Grotesk Medium"/>
      <p:regular r:id="rId20"/>
    </p:embeddedFont>
    <p:embeddedFont>
      <p:font typeface="Roboto"/>
      <p:regular r:id="rId21"/>
    </p:embeddedFont>
    <p:embeddedFont>
      <p:font typeface="Roboto"/>
      <p:regular r:id="rId22"/>
    </p:embeddedFont>
    <p:embeddedFont>
      <p:font typeface="Roboto"/>
      <p:regular r:id="rId23"/>
    </p:embeddedFont>
    <p:embeddedFont>
      <p:font typeface="Roboto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8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11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059424"/>
            <a:ext cx="75564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Theoretical and Empirical Analysis of Audio Feature Representations for Speech Recognition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5234702"/>
            <a:ext cx="75564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CS 5720 Neural Network &amp; Deep Learning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5830014"/>
            <a:ext cx="75564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Sajitha Konda , ByReddy Nishitha Reddy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09387"/>
            <a:ext cx="914590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Introduction to Speech Recognition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153960"/>
            <a:ext cx="8284131" cy="49703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2085142"/>
            <a:ext cx="380821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What is Speech Recognition?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638943" y="2666286"/>
            <a:ext cx="4205168" cy="2040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Speech recognition enables machines to convert spoken language into text or commands. Feature extraction transforms raw audio signals into meaningful representations that capture phonetic characteristics.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638943" y="4934069"/>
            <a:ext cx="410122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Why Feature Extraction Matters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638943" y="5515213"/>
            <a:ext cx="4205168" cy="1700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Effective features reduce dimensionality while preserving discriminative information, directly impacting recognition accuracy and system efficiency.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6016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Project Objectives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422571"/>
            <a:ext cx="4196358" cy="2546866"/>
          </a:xfrm>
          <a:prstGeom prst="roundRect">
            <a:avLst>
              <a:gd name="adj" fmla="val 374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224" y="3657005"/>
            <a:ext cx="680442" cy="68044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5390" y="3844052"/>
            <a:ext cx="306110" cy="30611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28224" y="45642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Comparative Analysis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028224" y="5054679"/>
            <a:ext cx="3727490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Evaluate MFCC, FBANK, and wav2vec 2.0 feature representations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5216962" y="3422571"/>
            <a:ext cx="4196358" cy="2546866"/>
          </a:xfrm>
          <a:prstGeom prst="roundRect">
            <a:avLst>
              <a:gd name="adj" fmla="val 374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1396" y="3657005"/>
            <a:ext cx="680442" cy="680442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8562" y="3844052"/>
            <a:ext cx="306110" cy="30611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51396" y="45642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Performance Metrics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5451396" y="5054679"/>
            <a:ext cx="3727490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Analyze classification accuracy across different feature sets</a:t>
            </a:r>
            <a:endParaRPr lang="en-US" sz="1750" dirty="0"/>
          </a:p>
        </p:txBody>
      </p:sp>
      <p:sp>
        <p:nvSpPr>
          <p:cNvPr id="13" name="Shape 7"/>
          <p:cNvSpPr/>
          <p:nvPr/>
        </p:nvSpPr>
        <p:spPr>
          <a:xfrm>
            <a:off x="9640133" y="3422571"/>
            <a:ext cx="4196358" cy="2546866"/>
          </a:xfrm>
          <a:prstGeom prst="roundRect">
            <a:avLst>
              <a:gd name="adj" fmla="val 374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4568" y="3657005"/>
            <a:ext cx="680442" cy="680442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061734" y="3844052"/>
            <a:ext cx="306110" cy="30611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874568" y="45642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Robustness Testing</a:t>
            </a:r>
            <a:endParaRPr lang="en-US" sz="2200" dirty="0"/>
          </a:p>
        </p:txBody>
      </p:sp>
      <p:sp>
        <p:nvSpPr>
          <p:cNvPr id="17" name="Text 9"/>
          <p:cNvSpPr/>
          <p:nvPr/>
        </p:nvSpPr>
        <p:spPr>
          <a:xfrm>
            <a:off x="9874568" y="5054679"/>
            <a:ext cx="3727490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noise tolerance at varying signal-to-noise ratios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9987"/>
            <a:ext cx="776478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Dataset &amp; Experimental Setup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76500"/>
            <a:ext cx="363224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Speech Commands Dataset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057644"/>
            <a:ext cx="4205168" cy="1938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Four classes: yes, no, up, down</a:t>
            </a:r>
            <a:endParaRPr lang="en-US" sz="175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~15,000 one-second audio clips</a:t>
            </a:r>
            <a:endParaRPr lang="en-US" sz="175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 kHz sampling rate</a:t>
            </a:r>
            <a:endParaRPr lang="en-US" sz="175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Preprocessed with trimming and padding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2231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Classification Model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5804297"/>
            <a:ext cx="4205168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 Vector Machine (SVM) with radial basis function (RBF) kernel for classification.</a:t>
            </a:r>
            <a:endParaRPr lang="en-US" sz="17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9981" y="2154079"/>
            <a:ext cx="8284131" cy="49703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993" y="589121"/>
            <a:ext cx="5050393" cy="631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System Framework</a:t>
            </a:r>
            <a:endParaRPr lang="en-US" sz="3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993" y="1580198"/>
            <a:ext cx="1010007" cy="1212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96904" y="1782128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Audio Input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896904" y="2205633"/>
            <a:ext cx="12026503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Raw waveform files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993" y="2792254"/>
            <a:ext cx="1010007" cy="12120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896904" y="2994184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Preprocessing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1896904" y="3417689"/>
            <a:ext cx="12026503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Trimming and padding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993" y="4004310"/>
            <a:ext cx="1010007" cy="12120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896904" y="4206240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Feature Extraction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1896904" y="4629745"/>
            <a:ext cx="12026503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MFCC, FBANK, wav2vec</a:t>
            </a:r>
            <a:endParaRPr lang="en-US" sz="15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993" y="5216366"/>
            <a:ext cx="1010007" cy="12120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896904" y="5418296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SVM Classifier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1896904" y="5841802"/>
            <a:ext cx="12026503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RBF kernel</a:t>
            </a:r>
            <a:endParaRPr lang="en-US" sz="15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993" y="6428423"/>
            <a:ext cx="1010007" cy="121205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896904" y="6630353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Evaluation</a:t>
            </a:r>
            <a:endParaRPr lang="en-US" sz="1950" dirty="0"/>
          </a:p>
        </p:txBody>
      </p:sp>
      <p:sp>
        <p:nvSpPr>
          <p:cNvPr id="17" name="Text 10"/>
          <p:cNvSpPr/>
          <p:nvPr/>
        </p:nvSpPr>
        <p:spPr>
          <a:xfrm>
            <a:off x="1896904" y="7053858"/>
            <a:ext cx="12026503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Accuracy metrics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65440"/>
            <a:ext cx="621577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Feature Representations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1714381"/>
            <a:ext cx="7556421" cy="2025491"/>
          </a:xfrm>
          <a:prstGeom prst="roundRect">
            <a:avLst>
              <a:gd name="adj" fmla="val 4703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310670" y="1744861"/>
            <a:ext cx="907256" cy="1964531"/>
          </a:xfrm>
          <a:prstGeom prst="roundRect">
            <a:avLst>
              <a:gd name="adj" fmla="val 6469"/>
            </a:avLst>
          </a:prstGeom>
          <a:solidFill>
            <a:srgbClr val="D9EDF2"/>
          </a:solidFill>
          <a:ln/>
        </p:spPr>
      </p:sp>
      <p:sp>
        <p:nvSpPr>
          <p:cNvPr id="6" name="Text 3"/>
          <p:cNvSpPr/>
          <p:nvPr/>
        </p:nvSpPr>
        <p:spPr>
          <a:xfrm>
            <a:off x="6590348" y="251448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7444740" y="1971675"/>
            <a:ext cx="579632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MFCC (Mel-Frequency Cepstral Coefficients)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444740" y="2462093"/>
            <a:ext cx="6134576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Compact, efficient representation mimicking human auditory perception. Extracts cepstral coefficients from mel-scale filter banks.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6280190" y="3966686"/>
            <a:ext cx="7556421" cy="1685330"/>
          </a:xfrm>
          <a:prstGeom prst="roundRect">
            <a:avLst>
              <a:gd name="adj" fmla="val 5653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10670" y="3997166"/>
            <a:ext cx="907256" cy="1624370"/>
          </a:xfrm>
          <a:prstGeom prst="roundRect">
            <a:avLst>
              <a:gd name="adj" fmla="val 6469"/>
            </a:avLst>
          </a:prstGeom>
          <a:solidFill>
            <a:srgbClr val="D9EDF2"/>
          </a:solidFill>
          <a:ln/>
        </p:spPr>
      </p:sp>
      <p:sp>
        <p:nvSpPr>
          <p:cNvPr id="11" name="Text 8"/>
          <p:cNvSpPr/>
          <p:nvPr/>
        </p:nvSpPr>
        <p:spPr>
          <a:xfrm>
            <a:off x="6590348" y="459664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2" name="Text 9"/>
          <p:cNvSpPr/>
          <p:nvPr/>
        </p:nvSpPr>
        <p:spPr>
          <a:xfrm>
            <a:off x="7444740" y="4223980"/>
            <a:ext cx="36864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FBANK (Filter Bank Features)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444740" y="4714399"/>
            <a:ext cx="6134576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Richer spectral detail through overlapping triangular filters. Preserves more raw spectral information than MFCC.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6280190" y="5878830"/>
            <a:ext cx="7556421" cy="1685330"/>
          </a:xfrm>
          <a:prstGeom prst="roundRect">
            <a:avLst>
              <a:gd name="adj" fmla="val 5653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10670" y="5909310"/>
            <a:ext cx="907256" cy="1624370"/>
          </a:xfrm>
          <a:prstGeom prst="roundRect">
            <a:avLst>
              <a:gd name="adj" fmla="val 6469"/>
            </a:avLst>
          </a:prstGeom>
          <a:solidFill>
            <a:srgbClr val="D9EDF2"/>
          </a:solidFill>
          <a:ln/>
        </p:spPr>
      </p:sp>
      <p:sp>
        <p:nvSpPr>
          <p:cNvPr id="16" name="Text 13"/>
          <p:cNvSpPr/>
          <p:nvPr/>
        </p:nvSpPr>
        <p:spPr>
          <a:xfrm>
            <a:off x="6590348" y="650879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7" name="Text 14"/>
          <p:cNvSpPr/>
          <p:nvPr/>
        </p:nvSpPr>
        <p:spPr>
          <a:xfrm>
            <a:off x="7444740" y="6136124"/>
            <a:ext cx="47929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wav2vec 2.0 (Deep Learning-Based)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7444740" y="6626543"/>
            <a:ext cx="6134576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Self-supervised transformer architecture learning contextualized audio representations from unlabeled data.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2228" y="562689"/>
            <a:ext cx="4873228" cy="609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50"/>
              </a:lnSpc>
              <a:buNone/>
            </a:pPr>
            <a:r>
              <a:rPr lang="en-US" sz="38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Methodology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82228" y="1611392"/>
            <a:ext cx="38981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01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228" y="1919764"/>
            <a:ext cx="7769304" cy="228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2228" y="2062877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Audio Preprocessing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82228" y="2534841"/>
            <a:ext cx="7769304" cy="271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Trim silence, pad to uniform length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2228" y="3120033"/>
            <a:ext cx="38981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02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228" y="3408878"/>
            <a:ext cx="7769304" cy="228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2228" y="3571518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Feature Extraction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682228" y="4043482"/>
            <a:ext cx="7769304" cy="271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MFCC, FBANK, and wav2vec embeddings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82228" y="4628674"/>
            <a:ext cx="38981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03</a:t>
            </a:r>
            <a:endParaRPr lang="en-US" sz="15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228" y="4898112"/>
            <a:ext cx="7769304" cy="228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82228" y="5080159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Model Training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682228" y="5552123"/>
            <a:ext cx="7769304" cy="271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SVM with RBF kernel, cross-validation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82228" y="6137315"/>
            <a:ext cx="38981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04</a:t>
            </a:r>
            <a:endParaRPr lang="en-US" sz="15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228" y="6387227"/>
            <a:ext cx="7769304" cy="228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82228" y="6588800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Evaluation</a:t>
            </a:r>
            <a:endParaRPr lang="en-US" sz="1900" dirty="0"/>
          </a:p>
        </p:txBody>
      </p:sp>
      <p:sp>
        <p:nvSpPr>
          <p:cNvPr id="18" name="Text 12"/>
          <p:cNvSpPr/>
          <p:nvPr/>
        </p:nvSpPr>
        <p:spPr>
          <a:xfrm>
            <a:off x="682228" y="7060763"/>
            <a:ext cx="7769304" cy="271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Accuracy calculation and noise robustness testing</a:t>
            </a:r>
            <a:endParaRPr lang="en-US" sz="15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4688" y="3038713"/>
            <a:ext cx="5020985" cy="30125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8662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Accuracy Results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890718"/>
            <a:ext cx="6244709" cy="36934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99521" y="2862382"/>
            <a:ext cx="30156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Performance Summary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599521" y="3443526"/>
            <a:ext cx="6244709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wav2vec 2.0 achieves highest accuracy at </a:t>
            </a:r>
            <a:pPr algn="l" indent="0" marL="0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007E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94.0%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followed by FBANK at 92.5% and MFCC at 92.0%.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1508403"/>
            <a:ext cx="34324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Noise Robustness Analysis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402449" y="1885355"/>
            <a:ext cx="3166705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Signal-to-Noise Ratio (SNR) Impact on Accuracy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2449" y="2147530"/>
            <a:ext cx="7825502" cy="44292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02449" y="6593443"/>
            <a:ext cx="7825502" cy="127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Gradual performance degradation observed as SNR decreases. wav2vec 2.0 maintains highest accuracy across all noise levels.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53239"/>
            <a:ext cx="718077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Key Findings &amp; Future Work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315647"/>
            <a:ext cx="4196358" cy="2546866"/>
          </a:xfrm>
          <a:prstGeom prst="roundRect">
            <a:avLst>
              <a:gd name="adj" fmla="val 374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224" y="2550081"/>
            <a:ext cx="680442" cy="68044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5390" y="2737128"/>
            <a:ext cx="306110" cy="30611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28224" y="34573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Best Performance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028224" y="3947755"/>
            <a:ext cx="3727490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wav2vec 2.0 achieves 94% accuracy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5216962" y="2315647"/>
            <a:ext cx="4196358" cy="2546866"/>
          </a:xfrm>
          <a:prstGeom prst="roundRect">
            <a:avLst>
              <a:gd name="adj" fmla="val 374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1396" y="2550081"/>
            <a:ext cx="680442" cy="680442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8562" y="2737128"/>
            <a:ext cx="306110" cy="30611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51396" y="34573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Efficient Baseline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5451396" y="3947755"/>
            <a:ext cx="3727490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MFCC provides 92% accuracy with lower computation</a:t>
            </a:r>
            <a:endParaRPr lang="en-US" sz="1750" dirty="0"/>
          </a:p>
        </p:txBody>
      </p:sp>
      <p:sp>
        <p:nvSpPr>
          <p:cNvPr id="13" name="Shape 7"/>
          <p:cNvSpPr/>
          <p:nvPr/>
        </p:nvSpPr>
        <p:spPr>
          <a:xfrm>
            <a:off x="9640133" y="2315647"/>
            <a:ext cx="4196358" cy="2546866"/>
          </a:xfrm>
          <a:prstGeom prst="roundRect">
            <a:avLst>
              <a:gd name="adj" fmla="val 374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4568" y="2550081"/>
            <a:ext cx="680442" cy="680442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061734" y="2737128"/>
            <a:ext cx="306110" cy="30611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874568" y="34573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Robust Design</a:t>
            </a:r>
            <a:endParaRPr lang="en-US" sz="2200" dirty="0"/>
          </a:p>
        </p:txBody>
      </p:sp>
      <p:sp>
        <p:nvSpPr>
          <p:cNvPr id="17" name="Text 9"/>
          <p:cNvSpPr/>
          <p:nvPr/>
        </p:nvSpPr>
        <p:spPr>
          <a:xfrm>
            <a:off x="9874568" y="3947755"/>
            <a:ext cx="3727490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Gradual degradation maintains usability in noisy environments</a:t>
            </a:r>
            <a:endParaRPr lang="en-US" sz="1750" dirty="0"/>
          </a:p>
        </p:txBody>
      </p:sp>
      <p:sp>
        <p:nvSpPr>
          <p:cNvPr id="18" name="Text 10"/>
          <p:cNvSpPr/>
          <p:nvPr/>
        </p:nvSpPr>
        <p:spPr>
          <a:xfrm>
            <a:off x="793790" y="5202674"/>
            <a:ext cx="34432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Future Research Directions</a:t>
            </a:r>
            <a:endParaRPr lang="en-US" sz="2200" dirty="0"/>
          </a:p>
        </p:txBody>
      </p:sp>
      <p:sp>
        <p:nvSpPr>
          <p:cNvPr id="19" name="Text 11"/>
          <p:cNvSpPr/>
          <p:nvPr/>
        </p:nvSpPr>
        <p:spPr>
          <a:xfrm>
            <a:off x="793790" y="5897166"/>
            <a:ext cx="13042821" cy="1179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Expand to additional command classes</a:t>
            </a:r>
            <a:endParaRPr lang="en-US" sz="175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with real-world environmental noise</a:t>
            </a:r>
            <a:endParaRPr lang="en-US" sz="175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Explore deep learning classifiers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2026-04-21T04:23:12Z</dcterms:created>
  <dcterms:modified xsi:type="dcterms:W3CDTF">2026-04-21T04:23:12Z</dcterms:modified>
</cp:coreProperties>
</file>